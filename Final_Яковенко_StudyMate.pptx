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2015999"/>
            <a:ext cx="108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Calibri"/>
              </a:rPr>
              <a:t>StudyMate</a:t>
            </a:r>
          </a:p>
          <a:p>
            <a:pPr algn="l">
              <a:spcAft>
                <a:spcPts val="2000"/>
              </a:spcAft>
            </a:pPr>
            <a:r>
              <a:rPr sz="2600" b="0">
                <a:solidFill>
                  <a:srgbClr val="8B6CFF"/>
                </a:solidFill>
                <a:latin typeface="Calibri"/>
              </a:rPr>
              <a:t>Освітній асистент, який не вигадує формул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9A9AB0"/>
                </a:solidFill>
                <a:latin typeface="Calibri"/>
              </a:rPr>
              <a:t>Система відповідає не тільки на питання «яка формула», а на питання,</a:t>
            </a:r>
          </a:p>
          <a:p>
            <a:pPr algn="l">
              <a:spcAft>
                <a:spcPts val="2400"/>
              </a:spcAft>
            </a:pPr>
            <a:r>
              <a:rPr sz="1600" b="0">
                <a:solidFill>
                  <a:srgbClr val="9A9AB0"/>
                </a:solidFill>
                <a:latin typeface="Calibri"/>
              </a:rPr>
              <a:t>якого студент не поставив: «чи можна застосувати її саме тут».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Яковенко Сергій  ·  Фінальний проєкт курсу AI Fundamental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02  Проблема і користувач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Студент 1-2 курсу технічної спеціальності, який готується до іспиту сам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55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8B6CFF"/>
                </a:solidFill>
                <a:latin typeface="Calibri"/>
              </a:rPr>
              <a:t>23:40. Три дні до іспиту.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Студент рахує задачу про газ у балоні й отримує 195 моль.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У підручнику 19,5. Питати нема кого.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B0"/>
                </a:solidFill>
                <a:latin typeface="Calibri"/>
              </a:rPr>
              <a:t>Він не знає, де саме помилився: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9A9AB0"/>
                </a:solidFill>
                <a:latin typeface="Calibri"/>
              </a:rPr>
              <a:t>у формулі, в переведенні одиниць чи в арифметиці.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Сам він цього не знайде: перевіряє себе тією ж логікою,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яка щойно дала збій.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2000" y="1512000"/>
            <a:ext cx="5040000" cy="1944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Чому не Google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Пошук віддає розбір ЧУЖОЇ задачі з чужими числами.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Формула на випадковому сайті приходить без умов застосовності.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Студент не може перевірити те, чого не знає.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2000" y="3671999"/>
            <a:ext cx="5040000" cy="1944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Чому не просто LLM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Модель упевнено назве формулу, якої не знає напевно.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Правильна і вигадана відповідь виглядають ОДНАКОВО.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Помилка потрапляє в конспект і закріплюється як знання.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03  Що робить продукт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Три сценарії, з якими студент приходить насправді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6000" y="1512000"/>
            <a:ext cx="3491999" cy="2592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4AD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D895"/>
                </a:solidFill>
                <a:latin typeface="Calibri"/>
              </a:rPr>
              <a:t>1. Перевірити застосування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«Кидаю камінь з даху 12 м,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чи підійде формула дальності?»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Система: формула правильна,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але не для цієї задачі.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Ось правильний шлях.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6000" y="1512000"/>
            <a:ext cx="3491999" cy="2592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4AD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D895"/>
                </a:solidFill>
                <a:latin typeface="Calibri"/>
              </a:rPr>
              <a:t>2. Знайти формулу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«Формула концентрації розчину»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У довіднику вона зветься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«молярна концентрація».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Синоніми в базі закривають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цей лексичний розрив.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6000" y="1512000"/>
            <a:ext cx="3491999" cy="2592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4AD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D895"/>
                </a:solidFill>
                <a:latin typeface="Calibri"/>
              </a:rPr>
              <a:t>3. Спланувати підготовку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«20 тем, 10 днів,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по 3 години. Встигну?»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Алгоритм рахує навантаження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і чесно каже, коли план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нереалістичний.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4392000"/>
            <a:ext cx="1105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8A5C"/>
                </a:solidFill>
                <a:latin typeface="Calibri"/>
              </a:rPr>
              <a:t>Поза межами продукту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Не розвʼязує контрольну замість студента. Не працює з гуманітарними предметами. Не будує строгих доведень: для них немає детермінованого верифікатора.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Не замінює викладача: якщо задача поза охопленням, система це визнає, а не імпровізує.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04  Архітектура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Кожен блок на схемі це реальний обʼєкт у коді, а не абстракція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404000"/>
            <a:ext cx="5257770" cy="518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0000" y="1584000"/>
            <a:ext cx="5328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8B6CFF"/>
                </a:solidFill>
                <a:latin typeface="Calibri"/>
              </a:rPr>
              <a:t>Роль моделі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Інтерпретує запит, обирає інструмент і пояснює вже готовий результат.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FF8A5C"/>
                </a:solidFill>
                <a:latin typeface="Calibri"/>
              </a:rPr>
              <a:t>Що модель НЕ робить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Не наводить формул з памʼяті. Не вирішує, чи придатна формула. Не рахує і не переводить одиниці.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8B6CFF"/>
                </a:solidFill>
                <a:latin typeface="Calibri"/>
              </a:rPr>
              <a:t>Гібридний пошук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Лексичний шар (міра F2) працює завжди, навіть без мережі. Семантичний додається за наявності ключа. Злиття через RRF: складаються ранги, а не оцінки, тому шкали шарів не треба зводити докупи.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9A9AB0"/>
                </a:solidFill>
                <a:latin typeface="Calibri"/>
              </a:rPr>
              <a:t>Деградація явна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Немає ключа: система працює на лексиці й повідомляє про це, а не тихо гіршає.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05  Ключове рішення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Придатність формули вирішує код, а не семантична близькість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1105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8B6CFF"/>
                </a:solidFill>
                <a:latin typeface="Calibri"/>
              </a:rPr>
              <a:t>Я перевірив це чисельно, а не припустив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Два речення: «формула працює лише коли точки кидання і падіння на одній висоті» і «камінь кидають з даху, тому висота не нульова».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FF8A5C"/>
                </a:solidFill>
                <a:latin typeface="Calibri"/>
              </a:rPr>
              <a:t>Логічно це пряме протиріччя. У векторному просторі вони БЛИЗЬКІ: обидва про висоту і кидання.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3024000"/>
            <a:ext cx="5328000" cy="1655999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Ембеддінг кодує тему, а не істинність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Він не відрізняє «умова виконується»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від «умова порушена»: слова майже ті самі.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Довірити йому перевірку застосовності не можна.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000" y="3024000"/>
            <a:ext cx="5328000" cy="1655999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4AD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D895"/>
                </a:solidFill>
                <a:latin typeface="Calibri"/>
              </a:rPr>
              <a:t>Тому перевірка винесена в код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Предикати картки (h₀ = 0) звіряються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з умовами задачі детермінованими правилами.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Рішення ухвалюється ДО будь-якої генерації.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4896000"/>
            <a:ext cx="11052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9AB0"/>
                </a:solidFill>
                <a:latin typeface="Calibri"/>
              </a:rPr>
              <a:t>Ціна рішення теж чесна: система відмовляє частіше, ніж хотілося б. Але відмова коштує студенту пʼять хвилин, а впевнена помилка коштує оцінки на іспиті й довіри до продукту назавжди.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06  Демо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Три типи поведінки: успіх, контекст, межі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6000" y="1512000"/>
            <a:ext cx="3491999" cy="3960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4AD8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D895"/>
                </a:solidFill>
                <a:latin typeface="Calibri"/>
              </a:rPr>
              <a:t>Головний сценарій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Запит: кидаю з даху 12 м,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чи підійде формула дальності?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🔧 check_formula_for_task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У базі дві формули з такою назвою,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тому система перевіряє ОБИДВІ: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❌ для рівної поверхні: h₀ &gt; 0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проти вимоги h₀ = 0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✅ для кидання з висоти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«Бери другу» + сама формула.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6000" y="1512000"/>
            <a:ext cx="3491999" cy="3960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8B6CFF"/>
                </a:solidFill>
                <a:latin typeface="Calibri"/>
              </a:rPr>
              <a:t>Контекст діалогу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«А якби я кидав з землі,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тоді підійшла б?»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У запиті немає ані чисел,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ані назви формули.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Працює лише тому, що вся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історія передається в агента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на кожному кроці.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Це те, чого не дає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пошуковий рядок.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6000" y="1512000"/>
            <a:ext cx="3491999" cy="3960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Межі системи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Немає в базі: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«формула ентропії Гіббса»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→ чесна відмова, не вигадка.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Неоднозначний запит: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«формула дальності польоту»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→ показує варіанти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і перепитує.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Поза профілем: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→ повертає до своєї теми.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07  Тестування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Перевіряю не текст відповіді, а її походження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540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8B6CFF"/>
                </a:solidFill>
                <a:latin typeface="Calibri"/>
              </a:rPr>
              <a:t>12 сценаріїв, дві незалежні перевірки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Який інструмент викликано і що фактично опинилось у відповіді. Це різні питання: відповідь буває правильною і при цьому взятою з памʼяті моделі, без звернення до бази.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8B6CFF"/>
                </a:solidFill>
                <a:latin typeface="Calibri"/>
              </a:rPr>
              <a:t>Що ловлять тести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регресію «закон збереження енергії» → закон Ома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чи доходить умова застосовності до студента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чи відмовляється система вигадувати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чи тримає межі ролі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2000" y="1512000"/>
            <a:ext cx="5076000" cy="1872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Знайдений баг, який змінив систему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«закон збереження енергії» повертало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ЗАКОН ОМА з оцінкою 1.0, як ідеальний збіг.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Причина: одностороння міра схожості.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2000" y="3600000"/>
            <a:ext cx="5076000" cy="1872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Тести теж уміли брехати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На мертвому ключі сценарії «без інструментів»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ПРОХОДИЛИ: список викликів порожній і при збої.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Тепер збій це окремий вердикт, а не успіх.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08  Вартість і ризики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gpt-4o-mini: $0.15 за 1M вхідних, $0.60 за 1M вихідних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540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8B6CFF"/>
                </a:solidFill>
                <a:latin typeface="Calibri"/>
              </a:rPr>
              <a:t>Вартість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Рахунок формує довжина контексту, а не кількість користувачів. Ембеддінги бази це разова витрата, вони не перераховуються на кожен запит.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Масштабування лінійне за запитами, тому прогнозоване.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8B6CFF"/>
                </a:solidFill>
                <a:latin typeface="Calibri"/>
              </a:rPr>
              <a:t>Важелі економії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• обрізати історію після 6-8 ходів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• тримати картки компактними: кожен абзац це токени в кожному запиті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• кешувати популярні запити: «кінетична енергія» питається тисячі разів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2000" y="1512000"/>
            <a:ext cx="5076000" cy="1296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Впевнена неправильна формула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Контроль: заборона в промпті + явна відмова інструмента + тести 5 і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2000" y="2951999"/>
            <a:ext cx="5076000" cy="1296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Правильна формула в чужій задачі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Контроль: детермінований фільтр застосовності ДО генерації.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2000" y="4392000"/>
            <a:ext cx="5076000" cy="1296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FF8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8A5C"/>
                </a:solidFill>
                <a:latin typeface="Calibri"/>
              </a:rPr>
              <a:t>Прогалина в покритті бази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Головне обмеження сьогодні. Контроль: підказки замість глухої відмови.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09  Шлях до production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Що готове, чого бракує і що робити першим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1512000"/>
            <a:ext cx="540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4AD895"/>
                </a:solidFill>
                <a:latin typeface="Calibri"/>
              </a:rPr>
              <a:t>Готове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Гібридний retrieval, детермінований фільтр застосовності, 4 інструменти, 12 тестових сценаріїв, веб-інтерфейс.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8A5C"/>
                </a:solidFill>
                <a:latin typeface="Calibri"/>
              </a:rPr>
              <a:t>Бракує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База з 12 формул замість 300-500. Обрізання історії діалогу. Re-ranker і оцінка recall@k. Trace кожного запиту.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2000" y="1512000"/>
            <a:ext cx="5076000" cy="3960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8B6CFF"/>
                </a:solidFill>
                <a:latin typeface="Calibri"/>
              </a:rPr>
              <a:t>Наступний крок, один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Не нова модель і не складніший агент,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а ВИМІРЮВАННЯ ПОКРИТТЯ БАЗИ.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Сьогодні я не знаю головного числа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продукту: на якій частці запитів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система відмовляє.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Без нього неможливо сказати,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що робити далі: наповнювати базу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чи міняти логіку пошуку.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Реалізація проста: логувати кожне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«немає в базі» і раз на тиждень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дивитися топ.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1080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10  Що я зрозумів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A9AB0"/>
                </a:solidFill>
                <a:latin typeface="Calibri"/>
              </a:rPr>
              <a:t>Три спостереження з власної роботи, а не з матеріалів курсу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00" y="1134000"/>
            <a:ext cx="1512000" cy="32400"/>
          </a:xfrm>
          <a:prstGeom prst="rect">
            <a:avLst/>
          </a:prstGeom>
          <a:solidFill>
            <a:srgbClr val="8B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6000" y="1512000"/>
            <a:ext cx="3491999" cy="3744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8B6CFF"/>
                </a:solidFill>
                <a:latin typeface="Calibri"/>
              </a:rPr>
              <a:t>Небезпечна не помилка,
а впевненість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Система не мала ЖОДНОГО способу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засумніватися: не вагалась,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не показала альтернатив.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Тому міра схожості тепер падає,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коли даних мало, а не зростає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від збігу одного слова.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56000" y="1512000"/>
            <a:ext cx="3491999" cy="3744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8B6CFF"/>
                </a:solidFill>
                <a:latin typeface="Calibri"/>
              </a:rPr>
              <a:t>Ембеддінги розуміють тему,
але не логіку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Перевірка застосовності не може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жити в семантичному пошуку.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Звідси детермінований фільтр: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найважливіший компонент продукту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принципово не використовує модель.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6000" y="1512000"/>
            <a:ext cx="3491999" cy="3744000"/>
          </a:xfrm>
          <a:prstGeom prst="roundRect">
            <a:avLst/>
          </a:prstGeom>
          <a:solidFill>
            <a:srgbClr val="181822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44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8B6CFF"/>
                </a:solidFill>
                <a:latin typeface="Calibri"/>
              </a:rPr>
              <a:t>Тести теж уміють брехати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Автотест, який не відрізняє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відсутність дії від відсутності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системи, дає хибне відчуття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контролю.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Тепер збій виклику це окремий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вердикт, а не тихий успіх.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5472000"/>
            <a:ext cx="1105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StudyMate це не чатбот з формулами. Це система, побудована навколо одного рішення: впевнена неправильна відповідь небезпечніша за відмову.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